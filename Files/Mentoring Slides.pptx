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11"/>
  </p:notesMasterIdLst>
  <p:sldIdLst>
    <p:sldId id="258" r:id="rId2"/>
    <p:sldId id="257" r:id="rId3"/>
    <p:sldId id="260" r:id="rId4"/>
    <p:sldId id="263" r:id="rId5"/>
    <p:sldId id="264" r:id="rId6"/>
    <p:sldId id="259" r:id="rId7"/>
    <p:sldId id="265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184" autoAdjust="0"/>
  </p:normalViewPr>
  <p:slideViewPr>
    <p:cSldViewPr snapToGrid="0" snapToObjects="1">
      <p:cViewPr varScale="1">
        <p:scale>
          <a:sx n="68" d="100"/>
          <a:sy n="68" d="100"/>
        </p:scale>
        <p:origin x="115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A4347-2F3A-E843-9CD5-40D1660A4E1A}" type="datetimeFigureOut">
              <a:rPr lang="en-US" smtClean="0"/>
              <a:t>7/23/2014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F8ADD-AD55-094F-944E-20A2F31BB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93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Frei</a:t>
            </a:r>
            <a:r>
              <a:rPr lang="en-US" dirty="0" smtClean="0"/>
              <a:t> et al. Mentoring programs for medical students - a review of the PubMed literature 2000 – 2008. BMC Medical Education. 2010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DBF1D-B6B4-8B44-B9AF-D312BC401AD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62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Aagaard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EM,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Hauer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KE: A cross-sectional descriptive study of mentoring relationships formed by medical students. J Gen Intern Med 2003, 18:298-302.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Zink BJ,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Hammoud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MM, Middleton E,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Moroney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D,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Schigelone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A: A comprehensive medical student career development program improves medical student satisfaction with career planning. Teach Learn Med 2007, 19:55-60.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Macaulay W,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Mellman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LA, Quest DO, Nichols GL, Haddad J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Jr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Puchner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PJ: The advisory dean program: a personalized approach to academic and career advising for medical students.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Acad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Med 2007, 82:718-722.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Kosoko-Lasaki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O,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Sonnino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RE,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Voytko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ML: Mentoring for women and underrepresented minority faculty and students: experience at two institutions of higher education. J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Natl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Med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Assoc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2006, 98:1449-1459.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Murr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AH, Miller C,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Papadakis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M: Mentorship through advisory colleges.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Acad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Med 2002, 77:1172-1173.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Dorrance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KA, Denton GD,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Proemba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J, La Rochelle J,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Nasir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J,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Argyros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G,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Durning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SJ: An internal medicine interest group research program can improve scholarly productivity of medical students and foster mentoring relationships with internists. Teach Learn Med 2008, 20:163-167.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Zier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K, Friedman E, Smith L: Supportive programs increase medical students’ research interest and productivity. J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Investig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Med 2006, 54:201-207.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Coates WC, Crooks K,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Slavin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SJ,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Guiton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G, Wilkerson L: Medical school curricular reform: fourth-year colleges improve access to career mentoring and overall satisfaction.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Acad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Med 2008, 83:754-760.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Kalet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AL, Sanger J, Chase J, Keller A, Schwartz MD, Fishman ML,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Garfall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AL,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Kitay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A, et al: Promoting professionalism through an online professional development portfolio: successes, joys, and frustrations.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Acad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Med 2007, 82:1065-1072.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Kalet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A,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Krackov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S, Rey M: Mentoring for a new era.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Acad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Med 2002, 77:1171-1172.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Tekian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A,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Jalovecky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MJ,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Hruska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L: The impact of mentoring and advising at-risk underrepresented minority students on medical school performance.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Acad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Med 2001, 76:1264.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Scheckler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WE,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Tuffli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G,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Schalch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D,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MacKinney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A, Ehrlich E: The Class Mentor Program at the University of Wisconsin Medical School: a unique and valuable asset for students and faculty. WMJ 2</a:t>
            </a:r>
            <a:r>
              <a:rPr lang="en-US" dirty="0" smtClean="0">
                <a:effectLst/>
              </a:rPr>
              <a:t> </a:t>
            </a:r>
          </a:p>
          <a:p>
            <a:endParaRPr lang="en-US" dirty="0" smtClean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DBF1D-B6B4-8B44-B9AF-D312BC401AD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13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Nakamura &amp; </a:t>
            </a:r>
            <a:r>
              <a:rPr lang="en-US" dirty="0" err="1" smtClean="0"/>
              <a:t>Shernoff</a:t>
            </a:r>
            <a:r>
              <a:rPr lang="en-US" baseline="0" dirty="0" smtClean="0"/>
              <a:t> 2009.  Good mentoring: fostering excellent practice in higher education. San </a:t>
            </a:r>
            <a:r>
              <a:rPr lang="en-US" baseline="0" dirty="0" err="1" smtClean="0"/>
              <a:t>francisco</a:t>
            </a:r>
            <a:r>
              <a:rPr lang="en-US" baseline="0" dirty="0" smtClean="0"/>
              <a:t>. J. </a:t>
            </a:r>
            <a:r>
              <a:rPr lang="en-US" baseline="0" dirty="0" err="1" smtClean="0"/>
              <a:t>wiley</a:t>
            </a:r>
            <a:r>
              <a:rPr lang="en-US" baseline="0" dirty="0" smtClean="0"/>
              <a:t> and sons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DBF1D-B6B4-8B44-B9AF-D312BC401AD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582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710C-E4FF-2A4C-9109-F587CA708B4D}" type="datetimeFigureOut">
              <a:rPr lang="en-US" smtClean="0"/>
              <a:t>7/23/2014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F2FE-312E-FC4D-874E-3DE016DEE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84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710C-E4FF-2A4C-9109-F587CA708B4D}" type="datetimeFigureOut">
              <a:rPr lang="en-US" smtClean="0"/>
              <a:t>7/23/2014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F2FE-312E-FC4D-874E-3DE016DEE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0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710C-E4FF-2A4C-9109-F587CA708B4D}" type="datetimeFigureOut">
              <a:rPr lang="en-US" smtClean="0"/>
              <a:t>7/23/2014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F2FE-312E-FC4D-874E-3DE016DEE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42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710C-E4FF-2A4C-9109-F587CA708B4D}" type="datetimeFigureOut">
              <a:rPr lang="en-US" smtClean="0"/>
              <a:t>7/23/2014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F2FE-312E-FC4D-874E-3DE016DEE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6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710C-E4FF-2A4C-9109-F587CA708B4D}" type="datetimeFigureOut">
              <a:rPr lang="en-US" smtClean="0"/>
              <a:t>7/23/2014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F2FE-312E-FC4D-874E-3DE016DEE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8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710C-E4FF-2A4C-9109-F587CA708B4D}" type="datetimeFigureOut">
              <a:rPr lang="en-US" smtClean="0"/>
              <a:t>7/23/2014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F2FE-312E-FC4D-874E-3DE016DEE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18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710C-E4FF-2A4C-9109-F587CA708B4D}" type="datetimeFigureOut">
              <a:rPr lang="en-US" smtClean="0"/>
              <a:t>7/23/2014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F2FE-312E-FC4D-874E-3DE016DEE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837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710C-E4FF-2A4C-9109-F587CA708B4D}" type="datetimeFigureOut">
              <a:rPr lang="en-US" smtClean="0"/>
              <a:t>7/23/2014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F2FE-312E-FC4D-874E-3DE016DEE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43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710C-E4FF-2A4C-9109-F587CA708B4D}" type="datetimeFigureOut">
              <a:rPr lang="en-US" smtClean="0"/>
              <a:t>7/23/2014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F2FE-312E-FC4D-874E-3DE016DEE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8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710C-E4FF-2A4C-9109-F587CA708B4D}" type="datetimeFigureOut">
              <a:rPr lang="en-US" smtClean="0"/>
              <a:t>7/23/2014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F2FE-312E-FC4D-874E-3DE016DEE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1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710C-E4FF-2A4C-9109-F587CA708B4D}" type="datetimeFigureOut">
              <a:rPr lang="en-US" smtClean="0"/>
              <a:t>7/23/2014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F2FE-312E-FC4D-874E-3DE016DEE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32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457200" y="84431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br>
              <a:rPr lang="en-US" dirty="0" smtClean="0"/>
            </a:br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457200" y="2169879"/>
            <a:ext cx="8229600" cy="3946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955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3710C-E4FF-2A4C-9109-F587CA708B4D}" type="datetimeFigureOut">
              <a:rPr lang="en-US" smtClean="0"/>
              <a:t>7/23/2014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EF2FE-312E-FC4D-874E-3DE016DEE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15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Providing Advice &amp; Mentorship to Students at All Levels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Engaging Today’s Medical Student</a:t>
            </a:r>
          </a:p>
          <a:p>
            <a:endParaRPr lang="en-US" sz="2800" dirty="0" smtClean="0"/>
          </a:p>
          <a:p>
            <a:r>
              <a:rPr lang="en-US" sz="2800" dirty="0" smtClean="0"/>
              <a:t>Margit </a:t>
            </a:r>
            <a:r>
              <a:rPr lang="en-US" sz="2800" dirty="0" err="1"/>
              <a:t>Chadwell</a:t>
            </a:r>
            <a:r>
              <a:rPr lang="en-US" sz="2800" dirty="0"/>
              <a:t>, MD, FAAFP</a:t>
            </a:r>
          </a:p>
          <a:p>
            <a:r>
              <a:rPr lang="en-US" sz="2800" dirty="0" smtClean="0"/>
              <a:t>Jacob Prunuske, MD, MSPH</a:t>
            </a:r>
          </a:p>
        </p:txBody>
      </p:sp>
    </p:spTree>
    <p:extLst>
      <p:ext uri="{BB962C8B-B14F-4D97-AF65-F5344CB8AC3E}">
        <p14:creationId xmlns:p14="http://schemas.microsoft.com/office/powerpoint/2010/main" val="4192854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Mentoring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Mentoring overview</a:t>
            </a:r>
          </a:p>
          <a:p>
            <a:r>
              <a:rPr lang="en-US" dirty="0" smtClean="0"/>
              <a:t>Mentor vs. advisor roles</a:t>
            </a:r>
          </a:p>
          <a:p>
            <a:r>
              <a:rPr lang="en-US" dirty="0" smtClean="0"/>
              <a:t>Mentoring formats</a:t>
            </a:r>
          </a:p>
          <a:p>
            <a:r>
              <a:rPr lang="en-US" dirty="0" smtClean="0"/>
              <a:t>Qualities &amp; skills of effective mentors</a:t>
            </a:r>
          </a:p>
          <a:p>
            <a:r>
              <a:rPr lang="en-US" dirty="0" smtClean="0"/>
              <a:t>Breakout session preview</a:t>
            </a:r>
          </a:p>
        </p:txBody>
      </p:sp>
    </p:spTree>
    <p:extLst>
      <p:ext uri="{BB962C8B-B14F-4D97-AF65-F5344CB8AC3E}">
        <p14:creationId xmlns:p14="http://schemas.microsoft.com/office/powerpoint/2010/main" val="3967726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Mentoring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0" y="2041776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“...experienced</a:t>
            </a:r>
            <a:r>
              <a:rPr lang="en-US" sz="3600" dirty="0"/>
              <a:t>, highly regarded, empathetic person (mentor) guides another individual (mentee) in the development and re-examination of their own ideas, learning, and personal and professional development</a:t>
            </a:r>
            <a:r>
              <a:rPr lang="en-US" sz="3600" dirty="0" smtClean="0"/>
              <a:t>.”</a:t>
            </a:r>
            <a:endParaRPr lang="en-US" sz="3600" dirty="0"/>
          </a:p>
        </p:txBody>
      </p:sp>
      <p:sp>
        <p:nvSpPr>
          <p:cNvPr id="3" name="Rectangle 2"/>
          <p:cNvSpPr/>
          <p:nvPr/>
        </p:nvSpPr>
        <p:spPr>
          <a:xfrm>
            <a:off x="6934200" y="5334000"/>
            <a:ext cx="14849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Frei</a:t>
            </a:r>
            <a:r>
              <a:rPr lang="en-US" dirty="0"/>
              <a:t> 2010</a:t>
            </a:r>
          </a:p>
        </p:txBody>
      </p:sp>
    </p:spTree>
    <p:extLst>
      <p:ext uri="{BB962C8B-B14F-4D97-AF65-F5344CB8AC3E}">
        <p14:creationId xmlns:p14="http://schemas.microsoft.com/office/powerpoint/2010/main" val="303203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Mentor vs. Advisor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Mentor</a:t>
            </a:r>
          </a:p>
          <a:p>
            <a:pPr lvl="1"/>
            <a:r>
              <a:rPr lang="en-US" dirty="0" smtClean="0"/>
              <a:t>Focus on personal &amp; professional growth and development (support, perspective)</a:t>
            </a:r>
          </a:p>
          <a:p>
            <a:pPr lvl="1"/>
            <a:r>
              <a:rPr lang="en-US" dirty="0" smtClean="0"/>
              <a:t>The big picture</a:t>
            </a:r>
          </a:p>
          <a:p>
            <a:r>
              <a:rPr lang="en-US" dirty="0" smtClean="0"/>
              <a:t>Advisor</a:t>
            </a:r>
          </a:p>
          <a:p>
            <a:pPr lvl="1"/>
            <a:r>
              <a:rPr lang="en-US" dirty="0" smtClean="0"/>
              <a:t>Focus on logistics, resources, processes (nuts &amp; bolts, navigating the system)</a:t>
            </a:r>
          </a:p>
          <a:p>
            <a:pPr lvl="1"/>
            <a:r>
              <a:rPr lang="en-US" dirty="0" smtClean="0"/>
              <a:t>Details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980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Mentoring Formats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Formal vs. Informal</a:t>
            </a:r>
          </a:p>
          <a:p>
            <a:r>
              <a:rPr lang="en-US" dirty="0" smtClean="0"/>
              <a:t>Faculty vs. Peer</a:t>
            </a:r>
          </a:p>
          <a:p>
            <a:r>
              <a:rPr lang="en-US" dirty="0" smtClean="0"/>
              <a:t>Individual vs. Group </a:t>
            </a:r>
          </a:p>
          <a:p>
            <a:pPr lvl="1"/>
            <a:r>
              <a:rPr lang="en-US" dirty="0" smtClean="0"/>
              <a:t>At learner &amp; mentor level</a:t>
            </a:r>
          </a:p>
          <a:p>
            <a:r>
              <a:rPr lang="en-US" dirty="0" smtClean="0"/>
              <a:t>Layered (levels of experience)</a:t>
            </a:r>
          </a:p>
        </p:txBody>
      </p:sp>
    </p:spTree>
    <p:extLst>
      <p:ext uri="{BB962C8B-B14F-4D97-AF65-F5344CB8AC3E}">
        <p14:creationId xmlns:p14="http://schemas.microsoft.com/office/powerpoint/2010/main" val="1284426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Value of Mentorship in Medical Education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Professional identity formation</a:t>
            </a:r>
          </a:p>
          <a:p>
            <a:r>
              <a:rPr lang="en-US" dirty="0" smtClean="0"/>
              <a:t>Professionalism development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/>
              <a:t>R</a:t>
            </a:r>
            <a:r>
              <a:rPr lang="en-US" dirty="0" smtClean="0">
                <a:solidFill>
                  <a:schemeClr val="tx1"/>
                </a:solidFill>
              </a:rPr>
              <a:t>esearch participation &amp; productivity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Career planning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Overall </a:t>
            </a:r>
            <a:r>
              <a:rPr lang="en-US" dirty="0">
                <a:solidFill>
                  <a:schemeClr val="tx1"/>
                </a:solidFill>
              </a:rPr>
              <a:t>well-</a:t>
            </a:r>
            <a:r>
              <a:rPr lang="en-US" dirty="0" smtClean="0">
                <a:solidFill>
                  <a:schemeClr val="tx1"/>
                </a:solidFill>
              </a:rPr>
              <a:t>being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Support for individuals </a:t>
            </a:r>
            <a:r>
              <a:rPr lang="en-US" dirty="0">
                <a:solidFill>
                  <a:schemeClr val="tx1"/>
                </a:solidFill>
              </a:rPr>
              <a:t>underrepresented </a:t>
            </a:r>
            <a:r>
              <a:rPr lang="en-US" dirty="0" smtClean="0"/>
              <a:t>in medicine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33346" y="5715008"/>
            <a:ext cx="7110654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/>
              <a:t>Aagaard</a:t>
            </a:r>
            <a:r>
              <a:rPr lang="en-US" sz="1600" dirty="0"/>
              <a:t> 2003. Zink 2007. Macaulay 2007. </a:t>
            </a:r>
            <a:r>
              <a:rPr lang="en-US" sz="1600" dirty="0" err="1"/>
              <a:t>Kosoko-Lasaki</a:t>
            </a:r>
            <a:r>
              <a:rPr lang="en-US" sz="1600" dirty="0"/>
              <a:t> 2006. </a:t>
            </a:r>
            <a:r>
              <a:rPr lang="en-US" sz="1600" dirty="0" err="1"/>
              <a:t>Murr</a:t>
            </a:r>
            <a:r>
              <a:rPr lang="en-US" sz="1600" dirty="0"/>
              <a:t> 2002. </a:t>
            </a:r>
            <a:r>
              <a:rPr lang="en-US" sz="1600" dirty="0" err="1"/>
              <a:t>Dorrance</a:t>
            </a:r>
            <a:r>
              <a:rPr lang="en-US" sz="1600" dirty="0"/>
              <a:t> 2008. </a:t>
            </a:r>
            <a:r>
              <a:rPr lang="en-US" sz="1600" dirty="0" err="1"/>
              <a:t>Zier</a:t>
            </a:r>
            <a:r>
              <a:rPr lang="en-US" sz="1600" dirty="0"/>
              <a:t> 2006. Coates 2008. </a:t>
            </a:r>
            <a:r>
              <a:rPr lang="en-US" sz="1600" dirty="0" err="1"/>
              <a:t>Kalet</a:t>
            </a:r>
            <a:r>
              <a:rPr lang="en-US" sz="1600" dirty="0"/>
              <a:t> 2007, 2001.</a:t>
            </a:r>
          </a:p>
        </p:txBody>
      </p:sp>
    </p:spTree>
    <p:extLst>
      <p:ext uri="{BB962C8B-B14F-4D97-AF65-F5344CB8AC3E}">
        <p14:creationId xmlns:p14="http://schemas.microsoft.com/office/powerpoint/2010/main" val="336892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Ground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Consistent availability, </a:t>
            </a:r>
            <a:r>
              <a:rPr lang="en-US" dirty="0" smtClean="0"/>
              <a:t>engagement</a:t>
            </a:r>
          </a:p>
          <a:p>
            <a:r>
              <a:rPr lang="en-US" dirty="0" smtClean="0"/>
              <a:t>Personal, professional boundaries</a:t>
            </a:r>
          </a:p>
          <a:p>
            <a:r>
              <a:rPr lang="en-US" dirty="0" smtClean="0"/>
              <a:t>Time &amp; place for meetings</a:t>
            </a:r>
          </a:p>
          <a:p>
            <a:r>
              <a:rPr lang="en-US" dirty="0" smtClean="0"/>
              <a:t>Create a safe space</a:t>
            </a:r>
          </a:p>
          <a:p>
            <a:r>
              <a:rPr lang="en-US" dirty="0" smtClean="0"/>
              <a:t>Clear expectations for role &amp; meetings</a:t>
            </a:r>
          </a:p>
          <a:p>
            <a:r>
              <a:rPr lang="en-US" dirty="0" smtClean="0"/>
              <a:t>Clear communication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650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Qualities of an Effective Mentor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69880"/>
            <a:ext cx="8686800" cy="39562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Budgets appropriate time</a:t>
            </a:r>
          </a:p>
          <a:p>
            <a:r>
              <a:rPr lang="en-US" dirty="0" smtClean="0"/>
              <a:t>Balances guidance and freedom </a:t>
            </a:r>
          </a:p>
          <a:p>
            <a:r>
              <a:rPr lang="en-US" dirty="0" smtClean="0"/>
              <a:t>Encourages mentee reflection</a:t>
            </a:r>
          </a:p>
          <a:p>
            <a:r>
              <a:rPr lang="en-US" dirty="0" smtClean="0"/>
              <a:t>Supportive atmosphere with appropriate resources</a:t>
            </a:r>
          </a:p>
          <a:p>
            <a:r>
              <a:rPr lang="en-US" dirty="0" smtClean="0"/>
              <a:t>Honest, constructive feedback</a:t>
            </a:r>
          </a:p>
          <a:p>
            <a:r>
              <a:rPr lang="en-US" dirty="0" smtClean="0"/>
              <a:t>Individual interest in mentee</a:t>
            </a:r>
          </a:p>
          <a:p>
            <a:r>
              <a:rPr lang="en-US" dirty="0" smtClean="0"/>
              <a:t>Avoids complaining about issues beyond students</a:t>
            </a:r>
            <a:r>
              <a:rPr lang="en-US" dirty="0"/>
              <a:t>’ </a:t>
            </a:r>
            <a:r>
              <a:rPr lang="en-US" dirty="0" smtClean="0"/>
              <a:t>control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40492" y="5895265"/>
            <a:ext cx="37035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Nakamura, </a:t>
            </a:r>
            <a:r>
              <a:rPr lang="en-US" dirty="0" err="1" smtClean="0"/>
              <a:t>Shernoff</a:t>
            </a:r>
            <a:r>
              <a:rPr lang="en-US" dirty="0" smtClean="0"/>
              <a:t> </a:t>
            </a:r>
            <a:r>
              <a:rPr lang="en-US" dirty="0"/>
              <a:t>2009</a:t>
            </a:r>
          </a:p>
        </p:txBody>
      </p:sp>
    </p:spTree>
    <p:extLst>
      <p:ext uri="{BB962C8B-B14F-4D97-AF65-F5344CB8AC3E}">
        <p14:creationId xmlns:p14="http://schemas.microsoft.com/office/powerpoint/2010/main" val="398995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Breakout Session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Case discussions</a:t>
            </a:r>
          </a:p>
          <a:p>
            <a:pPr lvl="1"/>
            <a:r>
              <a:rPr lang="en-US" dirty="0"/>
              <a:t>Mentoring challenges</a:t>
            </a:r>
          </a:p>
          <a:p>
            <a:pPr lvl="1"/>
            <a:r>
              <a:rPr lang="en-US" dirty="0"/>
              <a:t>Practical </a:t>
            </a:r>
            <a:r>
              <a:rPr lang="en-US" dirty="0" smtClean="0"/>
              <a:t>approaches</a:t>
            </a:r>
          </a:p>
          <a:p>
            <a:r>
              <a:rPr lang="en-US" dirty="0" smtClean="0"/>
              <a:t>Examine, apply &amp; share effective mentoring skills</a:t>
            </a:r>
          </a:p>
          <a:p>
            <a:r>
              <a:rPr lang="en-US" dirty="0" smtClean="0"/>
              <a:t>Tool for guiding effective mentoring sessions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803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366</Words>
  <Application>Microsoft Office PowerPoint</Application>
  <PresentationFormat>On-screen Show (4:3)</PresentationFormat>
  <Paragraphs>84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ＭＳ Ｐゴシック</vt:lpstr>
      <vt:lpstr>Arial</vt:lpstr>
      <vt:lpstr>Calibri</vt:lpstr>
      <vt:lpstr>Office Theme</vt:lpstr>
      <vt:lpstr>Providing Advice &amp; Mentorship to Students at All Levels</vt:lpstr>
      <vt:lpstr>Mentoring</vt:lpstr>
      <vt:lpstr>Mentoring</vt:lpstr>
      <vt:lpstr>Mentor vs. Advisor</vt:lpstr>
      <vt:lpstr>Mentoring Formats</vt:lpstr>
      <vt:lpstr>Value of Mentorship in Medical Education</vt:lpstr>
      <vt:lpstr>Ground Rules</vt:lpstr>
      <vt:lpstr>Qualities of an Effective Mentor</vt:lpstr>
      <vt:lpstr>Breakout Session</vt:lpstr>
    </vt:vector>
  </TitlesOfParts>
  <Company>STFM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Melissa Abuel</dc:creator>
  <cp:lastModifiedBy>Hannah Kittel</cp:lastModifiedBy>
  <cp:revision>25</cp:revision>
  <dcterms:created xsi:type="dcterms:W3CDTF">2013-07-17T19:19:39Z</dcterms:created>
  <dcterms:modified xsi:type="dcterms:W3CDTF">2014-07-23T18:48:50Z</dcterms:modified>
</cp:coreProperties>
</file>